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15FE-1C27-B481-D670-DEE1CA3DA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53E55-9262-ECAF-A7E6-EF5557DB4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4AE85-CE46-DB7C-607E-7C0860F9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E0CD3-B698-0009-44C2-FA1420B80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71E70-4226-4F6B-6084-8EE8E914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4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2B33-1E54-4C8E-BF72-091365C9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557E8-00AD-CF68-1561-CFA6E12EA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6E992-7AA6-50B3-239E-79314429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51404-66FD-E3DB-CF9F-3BD7EC7CB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0E35A-1919-AE2D-2664-12613031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6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B7C7-28F9-9E3B-D902-A4172CD5F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A4390-6010-261C-DC52-C2FC1A0E4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0AEF8-44B8-F59B-BE9D-C3F1A983B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468B3-27F5-EEB6-522F-A1701464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7B791-3954-C8BB-3DBF-70A28BDDA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1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1B15-B9C1-4036-8259-D11DB55F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27B9D-2EDC-EE1D-4A21-8AB690DF0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BD7B4-46E1-C2F6-C8C8-FB05456F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BB391-8799-ED7E-F4C6-99800089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6E1A5-A046-6169-0312-50FBA034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7CA1C-6926-6C38-76A7-65AC8A01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00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970E-22FE-F2BC-473C-61592649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38473-1814-0A40-1D6C-2B33C928E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4DC30-587C-440E-EA7A-3150095DF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AE69F-0BD5-FF5F-EE0B-F3E68156B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AAA02B-862D-4BE1-0ACA-2DC5AE389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D651C-2AC7-A307-1062-6661C6E9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6F7F7-46F0-7AFF-B352-26204DE5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F6091-CBE5-C2BC-2E5E-8E624250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0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D159-8ED8-1170-750F-B2B5D4AED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6A3129-F609-C918-447D-6F7CEC23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65B64-6314-6A73-0B9E-49CE2CBE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F2186-1836-69ED-EBCF-6EC68BCA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59DED-C68D-DFBB-EB67-4F873C2A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7276C6-D022-29E6-1EDF-C6C847E7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CA01C-4C9A-7059-4568-9B7DEAC6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43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049A1-2116-716D-4715-E54B36F4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9F153-058B-6D68-BC50-4007BBEA5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1490A-A742-2C28-E461-534140CCF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9AFDF-4721-E4B1-B42C-8F505990B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1DFB9-A356-47E5-2819-11D81D7C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281C-4AED-53C9-193B-12E2F650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F669-42DC-8CFB-0E10-B34AA57E2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434F7-AF00-CC5D-F2C8-81ED34760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C7BB3-E10E-C0E2-E896-F65A84A27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BCD8C-9EF9-611B-93A6-129CEDD4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2671B-D98F-370F-C644-FE1FF75F0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7DC8A-77F2-4B60-29A3-DAF70739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0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D5EF-CD40-9A78-B1D4-C392A7F9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4019B-6F94-B82D-BA24-404BA2455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102F1-6682-F24F-FD08-004FF28D7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5F20-CF1B-818B-F4C9-332083D96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920E1-C00A-2F1A-143D-341CCA87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1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79F2EF-E3FA-FE91-1DB6-9CC72FE45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24CC7-0119-3718-262F-25D9A0BAA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C8DB0-F213-76C2-10AC-A5244A0D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BE4AE-A9B2-42FD-F6B4-345E1434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125A9-4F86-21D5-8782-3FB66BA0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4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895A7-FBAB-A5BD-6434-9DD18C8C6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889A7-C4F0-25DA-42CB-F99756BBF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3D3D7-64E2-B97C-8327-4B4A0FAD9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195D3-21F4-4942-AFA5-18C8059CCC2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5945E-78F6-4699-B3E8-03855E0FD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0A4DB-0AFC-D726-6392-ABFDD322D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DFA88E-8D0A-42E9-9823-6EAE683F8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7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tooq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E5C4-B0F8-8358-516A-692344C36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>
            <a:normAutofit/>
          </a:bodyPr>
          <a:lstStyle/>
          <a:p>
            <a:r>
              <a:rPr lang="en-US" dirty="0"/>
              <a:t>Portfolio Optimization Under Estimation Uncertainty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B5B7-B852-D373-44B0-08B26B380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/>
          <a:lstStyle/>
          <a:p>
            <a:r>
              <a:rPr lang="en-US" dirty="0"/>
              <a:t>Bayesian and Bootstrap Analysis of Mean-Variance Portfolio Choice</a:t>
            </a:r>
          </a:p>
          <a:p>
            <a:endParaRPr lang="en-US" sz="1800" dirty="0"/>
          </a:p>
          <a:p>
            <a:r>
              <a:rPr lang="en-US" sz="1800" dirty="0"/>
              <a:t>Computational Statistics</a:t>
            </a:r>
          </a:p>
          <a:p>
            <a:r>
              <a:rPr lang="en-US" sz="1800" dirty="0"/>
              <a:t>Haneum Claude Lee</a:t>
            </a:r>
          </a:p>
          <a:p>
            <a:r>
              <a:rPr lang="en-US" sz="1800" dirty="0"/>
              <a:t>Johns Hopkins University</a:t>
            </a:r>
          </a:p>
        </p:txBody>
      </p:sp>
    </p:spTree>
    <p:extLst>
      <p:ext uri="{BB962C8B-B14F-4D97-AF65-F5344CB8AC3E}">
        <p14:creationId xmlns:p14="http://schemas.microsoft.com/office/powerpoint/2010/main" val="212552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2C0858-DF5C-E882-D32A-13FA275257C8}"/>
              </a:ext>
            </a:extLst>
          </p:cNvPr>
          <p:cNvSpPr/>
          <p:nvPr/>
        </p:nvSpPr>
        <p:spPr>
          <a:xfrm>
            <a:off x="6943725" y="4254246"/>
            <a:ext cx="4504563" cy="20093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E69048-BF00-B118-232B-6207C0F798DF}"/>
              </a:ext>
            </a:extLst>
          </p:cNvPr>
          <p:cNvSpPr/>
          <p:nvPr/>
        </p:nvSpPr>
        <p:spPr>
          <a:xfrm>
            <a:off x="6943725" y="2324100"/>
            <a:ext cx="4504563" cy="17049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AE81A-A056-D6A9-31D1-5321B327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Optimization as a Statistical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25229-3683-77EE-1DD1-FCA8B5E29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699760" cy="4438015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/>
              <a:t>Research Questions</a:t>
            </a:r>
          </a:p>
          <a:p>
            <a:endParaRPr lang="en-US" sz="1100" dirty="0"/>
          </a:p>
          <a:p>
            <a:pPr marL="457200" lvl="1" indent="0">
              <a:buNone/>
            </a:pPr>
            <a:r>
              <a:rPr lang="en-US" dirty="0"/>
              <a:t>How sensitive is </a:t>
            </a:r>
            <a:r>
              <a:rPr lang="en-US" b="1" dirty="0"/>
              <a:t>mean-variance portfolio optimization</a:t>
            </a:r>
            <a:r>
              <a:rPr lang="en-US" dirty="0"/>
              <a:t> to uncertainty in estimated returns and covariances?</a:t>
            </a:r>
          </a:p>
          <a:p>
            <a:pPr marL="457200" lvl="1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	 Application for Parameter estimation</a:t>
            </a:r>
          </a:p>
          <a:p>
            <a:pPr marL="457200" lvl="1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	      = Statistical Problem</a:t>
            </a:r>
            <a:endParaRPr lang="en-US" sz="18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r>
              <a:rPr lang="en-US" dirty="0"/>
              <a:t>Do </a:t>
            </a:r>
            <a:r>
              <a:rPr lang="en-US" b="1" dirty="0"/>
              <a:t>uncertainty-aware methods </a:t>
            </a:r>
            <a:r>
              <a:rPr lang="en-US" dirty="0"/>
              <a:t>produce more stable portfolio allocations?</a:t>
            </a:r>
          </a:p>
          <a:p>
            <a:pPr marL="457200" lvl="1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6A9316-2601-BF7D-788F-D131E675D4D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095744" y="1690688"/>
                <a:ext cx="4258056" cy="46461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 </a:t>
                </a:r>
              </a:p>
              <a:p>
                <a:pPr marL="0" indent="0">
                  <a:buNone/>
                </a:pPr>
                <a:endParaRPr lang="en-US" sz="1400" b="1" dirty="0"/>
              </a:p>
              <a:p>
                <a:pPr marL="0" indent="0">
                  <a:buNone/>
                </a:pPr>
                <a:r>
                  <a:rPr lang="en-US" sz="2000" b="1" dirty="0"/>
                  <a:t>Mean-Variance Optimization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Optimization problem on asset allocations using mean (returns;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2000" dirty="0"/>
                  <a:t>) and covariance matrix (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2000" b="1" dirty="0"/>
                  <a:t>Uncertainty-Aware Methods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Estimate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/>
                  <a:t> for above problem by accounting for sample variances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Bootstrap, Bayesian</a:t>
                </a:r>
              </a:p>
              <a:p>
                <a:pPr>
                  <a:buFontTx/>
                  <a:buChar char="-"/>
                </a:pPr>
                <a:endParaRPr lang="en-US" sz="2000" dirty="0"/>
              </a:p>
              <a:p>
                <a:pPr>
                  <a:buFontTx/>
                  <a:buChar char="-"/>
                </a:pPr>
                <a:endParaRPr lang="en-US" sz="2000" dirty="0"/>
              </a:p>
              <a:p>
                <a:pPr>
                  <a:buFontTx/>
                  <a:buChar char="-"/>
                </a:pPr>
                <a:endParaRPr lang="en-US" sz="20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6A9316-2601-BF7D-788F-D131E675D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095744" y="1690688"/>
                <a:ext cx="4258056" cy="4646104"/>
              </a:xfrm>
              <a:blipFill>
                <a:blip r:embed="rId2"/>
                <a:stretch>
                  <a:fillRect l="-1574" r="-2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18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1CE2D7-EE1F-60B7-A5B2-6D535DD1B987}"/>
              </a:ext>
            </a:extLst>
          </p:cNvPr>
          <p:cNvSpPr/>
          <p:nvPr/>
        </p:nvSpPr>
        <p:spPr>
          <a:xfrm>
            <a:off x="6096000" y="5444490"/>
            <a:ext cx="5429250" cy="7609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C1965-FA3B-7CC7-370F-4A6D9F2A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Mean-Variance Framework in Portfolio Allocations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15F44-9E05-278A-FFC2-8C8A8CA767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23383"/>
                <a:ext cx="4099560" cy="3051873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lim>
                      </m:limLow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4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1600" dirty="0"/>
                  <a:t>subject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b="0" dirty="0"/>
              </a:p>
              <a:p>
                <a:pPr marL="0" indent="0" algn="r">
                  <a:buNone/>
                </a:pPr>
                <a:r>
                  <a:rPr lang="en-US" sz="1200" b="0" dirty="0"/>
                  <a:t>(weights sum up to 1)</a:t>
                </a:r>
              </a:p>
              <a:p>
                <a:pPr marL="0" indent="0">
                  <a:buNone/>
                </a:pPr>
                <a:r>
                  <a:rPr lang="en-US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≥0,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=1, 2, …,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b="0" dirty="0"/>
              </a:p>
              <a:p>
                <a:pPr marL="0" indent="0" algn="r">
                  <a:buNone/>
                </a:pPr>
                <a:r>
                  <a:rPr lang="en-US" sz="1200" dirty="0"/>
                  <a:t>(weights must be all positive)</a:t>
                </a:r>
                <a:endParaRPr lang="en-US" sz="1200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15F44-9E05-278A-FFC2-8C8A8CA76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23383"/>
                <a:ext cx="4099560" cy="3051873"/>
              </a:xfrm>
              <a:blipFill>
                <a:blip r:embed="rId2"/>
                <a:stretch>
                  <a:fillRect l="-893"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1FB9B6-2588-7314-70D7-7FE1E474ABC0}"/>
                  </a:ext>
                </a:extLst>
              </p:cNvPr>
              <p:cNvSpPr txBox="1"/>
              <p:nvPr/>
            </p:nvSpPr>
            <p:spPr>
              <a:xfrm>
                <a:off x="838200" y="5444490"/>
                <a:ext cx="330098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1600" dirty="0"/>
                  <a:t>: portfolio weights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1600" dirty="0"/>
                  <a:t>: expected return vector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sz="1600" dirty="0"/>
                  <a:t>: covariance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600" dirty="0"/>
                  <a:t>: risk-aversion parameter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1FB9B6-2588-7314-70D7-7FE1E474A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44490"/>
                <a:ext cx="3300984" cy="1077218"/>
              </a:xfrm>
              <a:prstGeom prst="rect">
                <a:avLst/>
              </a:prstGeom>
              <a:blipFill>
                <a:blip r:embed="rId3"/>
                <a:stretch>
                  <a:fillRect l="-739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68660D-98F5-7254-C7A5-EDAF41836008}"/>
                  </a:ext>
                </a:extLst>
              </p:cNvPr>
              <p:cNvSpPr txBox="1"/>
              <p:nvPr/>
            </p:nvSpPr>
            <p:spPr>
              <a:xfrm>
                <a:off x="5047488" y="2423383"/>
                <a:ext cx="6629400" cy="3724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u="sng" dirty="0"/>
                  <a:t>Maximize portfolio return while penalizing their risks</a:t>
                </a:r>
              </a:p>
              <a:p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Maximize Portfolio Returns</a:t>
                </a:r>
              </a:p>
              <a:p>
                <a:pPr lvl="1"/>
                <a:r>
                  <a:rPr lang="en-US" dirty="0"/>
                  <a:t>= Find </a:t>
                </a:r>
                <a:r>
                  <a:rPr lang="en-US" b="1" dirty="0"/>
                  <a:t>optimal weights </a:t>
                </a:r>
                <a:r>
                  <a:rPr lang="en-US" dirty="0"/>
                  <a:t>that maximize total weighted returns</a:t>
                </a:r>
              </a:p>
              <a:p>
                <a:pPr lvl="1"/>
                <a:r>
                  <a:rPr lang="en-US" dirty="0"/>
                  <a:t>= Find </a:t>
                </a:r>
                <a:r>
                  <a:rPr lang="en-US" b="1" dirty="0"/>
                  <a:t>best portfolio allocation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different assets</a:t>
                </a:r>
              </a:p>
              <a:p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Penalize Asset Risks</a:t>
                </a:r>
              </a:p>
              <a:p>
                <a:pPr lvl="1"/>
                <a:r>
                  <a:rPr lang="en-US" dirty="0"/>
                  <a:t>Risk defined by covariances</a:t>
                </a:r>
              </a:p>
              <a:p>
                <a:pPr lvl="1"/>
                <a:r>
                  <a:rPr lang="en-US" dirty="0"/>
                  <a:t>Risk-aversion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to adjust the penalty level</a:t>
                </a:r>
              </a:p>
              <a:p>
                <a:endParaRPr lang="en-US" dirty="0"/>
              </a:p>
              <a:p>
                <a:pPr algn="ctr"/>
                <a:endParaRPr lang="en-US" dirty="0"/>
              </a:p>
              <a:p>
                <a:pPr lvl="2" algn="ctr"/>
                <a:r>
                  <a:rPr lang="en-US" dirty="0"/>
                  <a:t>**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dirty="0"/>
                  <a:t> are input for this optimization problem. </a:t>
                </a:r>
              </a:p>
              <a:p>
                <a:pPr lvl="2" algn="ctr"/>
                <a:r>
                  <a:rPr lang="en-US" dirty="0"/>
                  <a:t>Unknown by nature, so estimated with data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68660D-98F5-7254-C7A5-EDAF41836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488" y="2423383"/>
                <a:ext cx="6629400" cy="3724096"/>
              </a:xfrm>
              <a:prstGeom prst="rect">
                <a:avLst/>
              </a:prstGeom>
              <a:blipFill>
                <a:blip r:embed="rId4"/>
                <a:stretch>
                  <a:fillRect l="-919" t="-984" b="-1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7CDB6C-BF2D-2E8F-6D49-3936F745629E}"/>
                  </a:ext>
                </a:extLst>
              </p:cNvPr>
              <p:cNvSpPr txBox="1"/>
              <p:nvPr/>
            </p:nvSpPr>
            <p:spPr>
              <a:xfrm>
                <a:off x="838200" y="1413510"/>
                <a:ext cx="10235184" cy="928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Portfolio = Set of (financial) assets allocated with various weights</a:t>
                </a:r>
              </a:p>
              <a:p>
                <a:r>
                  <a:rPr lang="en-US" dirty="0"/>
                  <a:t>Portfolio Return = weighted sum of induvial asset returns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7CDB6C-BF2D-2E8F-6D49-3936F7456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13510"/>
                <a:ext cx="10235184" cy="928267"/>
              </a:xfrm>
              <a:prstGeom prst="rect">
                <a:avLst/>
              </a:prstGeom>
              <a:blipFill>
                <a:blip r:embed="rId5"/>
                <a:stretch>
                  <a:fillRect l="-536" t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03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D925EC-E045-FC68-9910-8867C1A858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Estimation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D925EC-E045-FC68-9910-8867C1A858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0DE26-4DDB-0F1D-0ED7-D5BC70EB0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192"/>
            <a:ext cx="10515600" cy="4640771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**Separate problem from optimization problem</a:t>
            </a:r>
          </a:p>
          <a:p>
            <a:endParaRPr lang="en-US" sz="1200" dirty="0"/>
          </a:p>
          <a:p>
            <a:r>
              <a:rPr lang="en-US" dirty="0"/>
              <a:t>Simple </a:t>
            </a:r>
            <a:r>
              <a:rPr lang="en-US" b="1" dirty="0"/>
              <a:t>Plug-In</a:t>
            </a:r>
            <a:r>
              <a:rPr lang="en-US" dirty="0"/>
              <a:t> Estimation: </a:t>
            </a:r>
          </a:p>
          <a:p>
            <a:pPr lvl="1"/>
            <a:r>
              <a:rPr lang="en-US" dirty="0"/>
              <a:t>Use means of sample data</a:t>
            </a:r>
          </a:p>
          <a:p>
            <a:pPr lvl="1"/>
            <a:r>
              <a:rPr lang="en-US" dirty="0"/>
              <a:t>Does not account for sample variance (uncertainty)</a:t>
            </a:r>
          </a:p>
          <a:p>
            <a:pPr lvl="1"/>
            <a:endParaRPr lang="en-US" dirty="0"/>
          </a:p>
          <a:p>
            <a:r>
              <a:rPr lang="en-US" b="1" dirty="0"/>
              <a:t>Uncertainty-Aware</a:t>
            </a:r>
            <a:r>
              <a:rPr lang="en-US" dirty="0"/>
              <a:t> Estimation: </a:t>
            </a:r>
          </a:p>
          <a:p>
            <a:pPr lvl="1"/>
            <a:r>
              <a:rPr lang="en-US" dirty="0"/>
              <a:t>Use means AND variances of sample data with computational statistical techniques (</a:t>
            </a:r>
            <a:r>
              <a:rPr lang="en-US" b="1" dirty="0"/>
              <a:t>Bootstrap</a:t>
            </a:r>
            <a:r>
              <a:rPr lang="en-US" dirty="0"/>
              <a:t> and </a:t>
            </a:r>
            <a:r>
              <a:rPr lang="en-US" b="1" dirty="0"/>
              <a:t>Bayesian/MCMC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Additional layer to </a:t>
            </a:r>
            <a:r>
              <a:rPr lang="en-US" u="sng" dirty="0"/>
              <a:t>capture for sample uncertainty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is separate from penalizing covariance in optimization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71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0850-3AAC-6F35-26BA-55DBF4D77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Data &amp; Prep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8A9FF-5490-EE56-7AED-05BCFC572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401300" cy="4662488"/>
          </a:xfrm>
        </p:spPr>
        <p:txBody>
          <a:bodyPr>
            <a:normAutofit/>
          </a:bodyPr>
          <a:lstStyle/>
          <a:p>
            <a:r>
              <a:rPr lang="en-US" sz="2000" dirty="0"/>
              <a:t>6 ETFs obtained from Stooq (</a:t>
            </a:r>
            <a:r>
              <a:rPr lang="en-US" sz="2000" dirty="0">
                <a:hlinkClick r:id="rId2"/>
              </a:rPr>
              <a:t>https://stooq.com/</a:t>
            </a:r>
            <a:r>
              <a:rPr lang="en-US" sz="2000" dirty="0"/>
              <a:t>)</a:t>
            </a:r>
          </a:p>
          <a:p>
            <a:pPr lvl="1"/>
            <a:r>
              <a:rPr lang="en-US" sz="1800" dirty="0"/>
              <a:t>Rationale: small &amp; universal funds, easily exportable</a:t>
            </a:r>
          </a:p>
          <a:p>
            <a:r>
              <a:rPr lang="en-US" sz="2000" b="1" dirty="0"/>
              <a:t>Weekly</a:t>
            </a:r>
            <a:r>
              <a:rPr lang="en-US" sz="2000" dirty="0"/>
              <a:t> for </a:t>
            </a:r>
            <a:r>
              <a:rPr lang="en-US" sz="2000" b="1" dirty="0"/>
              <a:t>10-year</a:t>
            </a:r>
            <a:r>
              <a:rPr lang="en-US" sz="2000" dirty="0"/>
              <a:t> (2014-01-01 to 2023-12-31) as training set</a:t>
            </a:r>
          </a:p>
          <a:p>
            <a:r>
              <a:rPr lang="en-US" sz="2000" dirty="0"/>
              <a:t>+ 2 years (2024-01-01 to 2025-12-31) as holdout set</a:t>
            </a:r>
          </a:p>
          <a:p>
            <a:pPr lvl="1"/>
            <a:r>
              <a:rPr lang="en-US" sz="1800" dirty="0"/>
              <a:t>Rationale: consistent &amp; clear-cut range for all 6 funds</a:t>
            </a:r>
          </a:p>
          <a:p>
            <a:pPr lvl="1"/>
            <a:r>
              <a:rPr lang="en-US" sz="1800" dirty="0"/>
              <a:t>End of week values for chosen range</a:t>
            </a:r>
          </a:p>
          <a:p>
            <a:endParaRPr lang="en-US" sz="2200" dirty="0"/>
          </a:p>
          <a:p>
            <a:r>
              <a:rPr lang="en-US" sz="2200" dirty="0"/>
              <a:t>Log-transform</a:t>
            </a:r>
          </a:p>
          <a:p>
            <a:pPr lvl="1"/>
            <a:r>
              <a:rPr lang="en-US" sz="1800" dirty="0"/>
              <a:t>Simpler statistical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5DBD3-8412-307B-EABD-24E59298E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518" y="1514475"/>
            <a:ext cx="2477432" cy="1858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7F82A-27FC-6C6B-FF81-C545DC832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975" y="4248239"/>
            <a:ext cx="7229475" cy="219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DF08-0F55-A074-1586-5BC31B768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Plug-In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977A2-7B73-5841-3C2B-4E58CB84D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9377"/>
          </a:xfrm>
        </p:spPr>
        <p:txBody>
          <a:bodyPr/>
          <a:lstStyle/>
          <a:p>
            <a:r>
              <a:rPr lang="en-US" sz="2400" dirty="0"/>
              <a:t>Calculate sample mean and covariances &amp; apply optimization** </a:t>
            </a:r>
          </a:p>
          <a:p>
            <a:r>
              <a:rPr lang="en-US" sz="2400" dirty="0"/>
              <a:t>Baseline solution to be compared with uncertainty-aware methods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8ADB78-020B-B25E-8178-47BD3C77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75" y="3111378"/>
            <a:ext cx="4695261" cy="2420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B72309-BDD8-F054-A3F0-BAE26847AEEB}"/>
              </a:ext>
            </a:extLst>
          </p:cNvPr>
          <p:cNvSpPr txBox="1"/>
          <p:nvPr/>
        </p:nvSpPr>
        <p:spPr>
          <a:xfrm>
            <a:off x="7242048" y="6273225"/>
            <a:ext cx="4736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**solve optimization using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cvxpy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package in Python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F8AD86-1E3E-23DE-EC51-13F32C219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5" y="2885002"/>
            <a:ext cx="6031980" cy="26964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3833C7-DEF8-C356-DDA3-E5D207E51721}"/>
              </a:ext>
            </a:extLst>
          </p:cNvPr>
          <p:cNvSpPr txBox="1"/>
          <p:nvPr/>
        </p:nvSpPr>
        <p:spPr>
          <a:xfrm>
            <a:off x="664475" y="5634943"/>
            <a:ext cx="5431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Notice 0 weights for EFA and EEM, which just indicates that those funds do not perform well based on estimation</a:t>
            </a:r>
          </a:p>
        </p:txBody>
      </p:sp>
    </p:spTree>
    <p:extLst>
      <p:ext uri="{BB962C8B-B14F-4D97-AF65-F5344CB8AC3E}">
        <p14:creationId xmlns:p14="http://schemas.microsoft.com/office/powerpoint/2010/main" val="2085344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44B4-7C95-BFA9-A30C-FB533787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Uncertainty-Aware Estimation 1.</a:t>
            </a:r>
            <a:br>
              <a:rPr lang="en-US" dirty="0"/>
            </a:br>
            <a:r>
              <a:rPr lang="en-US" dirty="0"/>
              <a:t>Bootstrap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74876-1104-853A-239D-0DF0238EC1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95088" cy="4520311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000" dirty="0"/>
                  <a:t>Create bootstrap sample estimates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by resampling sample data for 1000 times with replacement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Apply optimization for those 1000 estimates to obtain 1000 weight estimate sample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Obtain bootstrap distribution of weights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Able to form distributional statistics on weight estimates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= Formulates the uncertainty of weights</a:t>
                </a: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74876-1104-853A-239D-0DF0238EC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95088" cy="4520311"/>
              </a:xfrm>
              <a:blipFill>
                <a:blip r:embed="rId2"/>
                <a:stretch>
                  <a:fillRect l="-1370" t="-1348" r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8F8D8BF-B0EF-4A2F-F807-EDA6FEF62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18" y="523431"/>
            <a:ext cx="5794391" cy="3221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3CD6D5-A6FE-4ADE-FB71-801240A8B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641" y="4012628"/>
            <a:ext cx="6203343" cy="186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7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F257-1F40-D834-C8B3-922E5E1DF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AE18-50D1-DFE5-2072-5614B83B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Uncertainty-Aware Estimation 2.</a:t>
            </a:r>
            <a:br>
              <a:rPr lang="en-US" dirty="0"/>
            </a:br>
            <a:r>
              <a:rPr lang="en-US" dirty="0"/>
              <a:t>Bayesian with Markov Chain Monte Carlo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D005A-511E-DC5D-E094-C6114A2A1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6366" cy="452031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000" dirty="0"/>
              <a:t>Define Bayesian model for posterior with domain knowledge </a:t>
            </a:r>
          </a:p>
          <a:p>
            <a:pPr marL="514350" indent="-514350">
              <a:buAutoNum type="arabicPeriod"/>
            </a:pPr>
            <a:r>
              <a:rPr lang="en-US" sz="2000" dirty="0"/>
              <a:t>Apply MCMC** for 1000 iterations (after 1000 tuning) to draw plausible posterior based on Bayesian setup</a:t>
            </a:r>
          </a:p>
          <a:p>
            <a:pPr marL="514350" indent="-514350">
              <a:buAutoNum type="arabicPeriod"/>
            </a:pPr>
            <a:r>
              <a:rPr lang="en-US" sz="2000" dirty="0"/>
              <a:t>Obtain Bayesian distribution of weights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Same distributional benefits as bootstrap, but more tuning with domain knowledge using Bayesian model</a:t>
            </a:r>
          </a:p>
          <a:p>
            <a:pPr>
              <a:buFontTx/>
              <a:buChar char="-"/>
            </a:pPr>
            <a:r>
              <a:rPr lang="en-US" sz="2000" dirty="0"/>
              <a:t>Traces and density plots show decent convergence on all 6 weights, indicating successful MCMC. 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5D884-DCE8-9F56-A7AF-C20D4286173A}"/>
              </a:ext>
            </a:extLst>
          </p:cNvPr>
          <p:cNvSpPr txBox="1"/>
          <p:nvPr/>
        </p:nvSpPr>
        <p:spPr>
          <a:xfrm>
            <a:off x="7242048" y="6273225"/>
            <a:ext cx="4736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**solve using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pymc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arviz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package in Python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B19B69-5C3D-9C1E-5A49-39F28B0F9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66" y="1609344"/>
            <a:ext cx="5734514" cy="2611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1ADE92-76B6-E4AA-05F0-09D17989E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566" y="4483467"/>
            <a:ext cx="5498163" cy="152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6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0CA3-E9CD-F4FF-D06C-97ECD008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976"/>
          </a:xfrm>
        </p:spPr>
        <p:txBody>
          <a:bodyPr/>
          <a:lstStyle/>
          <a:p>
            <a:r>
              <a:rPr lang="en-US" dirty="0"/>
              <a:t>Results Comparison on Holdout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901D2-BEE3-B33A-189F-11BB9EE32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5994"/>
            <a:ext cx="6182588" cy="12003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9AE53C-988C-F07B-D5D6-94DC92536A73}"/>
              </a:ext>
            </a:extLst>
          </p:cNvPr>
          <p:cNvSpPr txBox="1"/>
          <p:nvPr/>
        </p:nvSpPr>
        <p:spPr>
          <a:xfrm>
            <a:off x="7944497" y="3429000"/>
            <a:ext cx="3372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Sharpe Ratio = mean / volatility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F97FFF-C756-DADD-61CE-329152F22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502" y="1176993"/>
            <a:ext cx="4529723" cy="22520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2E583E-414E-8697-73DE-2BF3DA3DD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501" y="3879447"/>
            <a:ext cx="4392603" cy="22956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7034DC-B1F7-3B6C-D967-12AAE4AA5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075" y="2748204"/>
            <a:ext cx="5221109" cy="26761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87531B-6F70-A88E-DBEF-FE2A3CDC05AD}"/>
              </a:ext>
            </a:extLst>
          </p:cNvPr>
          <p:cNvSpPr txBox="1"/>
          <p:nvPr/>
        </p:nvSpPr>
        <p:spPr>
          <a:xfrm>
            <a:off x="7944497" y="6200486"/>
            <a:ext cx="33726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Concentration = SS of Weights (overall spread)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07DE54-AEB8-011B-24CF-3CD31F96FCC0}"/>
              </a:ext>
            </a:extLst>
          </p:cNvPr>
          <p:cNvSpPr txBox="1"/>
          <p:nvPr/>
        </p:nvSpPr>
        <p:spPr>
          <a:xfrm>
            <a:off x="855021" y="5569543"/>
            <a:ext cx="5919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three methods seem to perform similar on holdout set.</a:t>
            </a:r>
          </a:p>
          <a:p>
            <a:r>
              <a:rPr lang="en-US" dirty="0"/>
              <a:t>However, uncertainty-aware method revealed instability measures of those estimates.</a:t>
            </a:r>
          </a:p>
        </p:txBody>
      </p:sp>
    </p:spTree>
    <p:extLst>
      <p:ext uri="{BB962C8B-B14F-4D97-AF65-F5344CB8AC3E}">
        <p14:creationId xmlns:p14="http://schemas.microsoft.com/office/powerpoint/2010/main" val="97256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2951-2D6A-CCFE-EC19-66C0EE11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773DB-EAF2-A621-D1B3-8AEFDBCF3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Portfolio optimization is a statistical problem</a:t>
            </a:r>
          </a:p>
          <a:p>
            <a:endParaRPr lang="en-US" sz="1800" dirty="0"/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Small asset selection</a:t>
            </a:r>
          </a:p>
          <a:p>
            <a:pPr lvl="1"/>
            <a:r>
              <a:rPr lang="en-US" dirty="0"/>
              <a:t>Limited trials on Bayesian model parameter</a:t>
            </a:r>
          </a:p>
          <a:p>
            <a:pPr lvl="1"/>
            <a:r>
              <a:rPr lang="en-US" dirty="0"/>
              <a:t>Soley focused on estimation uncertainty, not other market factors</a:t>
            </a:r>
          </a:p>
          <a:p>
            <a:pPr lvl="1"/>
            <a:endParaRPr lang="en-US" sz="1800" dirty="0"/>
          </a:p>
          <a:p>
            <a:r>
              <a:rPr lang="en-US" dirty="0"/>
              <a:t>Lesson</a:t>
            </a:r>
          </a:p>
          <a:p>
            <a:pPr lvl="1"/>
            <a:r>
              <a:rPr lang="en-US" dirty="0"/>
              <a:t>Uncertainty-awareness methods reveal </a:t>
            </a:r>
            <a:r>
              <a:rPr lang="en-US" b="1" dirty="0"/>
              <a:t>estimation instability metrics </a:t>
            </a:r>
            <a:r>
              <a:rPr lang="en-US" dirty="0"/>
              <a:t>that plug-in method cannot create</a:t>
            </a:r>
          </a:p>
        </p:txBody>
      </p:sp>
    </p:spTree>
    <p:extLst>
      <p:ext uri="{BB962C8B-B14F-4D97-AF65-F5344CB8AC3E}">
        <p14:creationId xmlns:p14="http://schemas.microsoft.com/office/powerpoint/2010/main" val="367508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657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Wingdings</vt:lpstr>
      <vt:lpstr>Office Theme</vt:lpstr>
      <vt:lpstr>Portfolio Optimization Under Estimation Uncertainty</vt:lpstr>
      <vt:lpstr>Portfolio Optimization as a Statistical Problem</vt:lpstr>
      <vt:lpstr>Mean-Variance Framework in Portfolio Allocations</vt:lpstr>
      <vt:lpstr>Estimation of μ and Σ</vt:lpstr>
      <vt:lpstr>Portfolio Data &amp; Prep</vt:lpstr>
      <vt:lpstr>Simple Plug-In Estimation</vt:lpstr>
      <vt:lpstr>Uncertainty-Aware Estimation 1. Bootstrap</vt:lpstr>
      <vt:lpstr>Uncertainty-Aware Estimation 2. Bayesian with Markov Chain Monte Carlo</vt:lpstr>
      <vt:lpstr>Results Comparison on Holdout Set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Haneum Lee</dc:creator>
  <cp:lastModifiedBy>Haneum Lee</cp:lastModifiedBy>
  <cp:revision>3</cp:revision>
  <dcterms:created xsi:type="dcterms:W3CDTF">2026-04-25T05:46:30Z</dcterms:created>
  <dcterms:modified xsi:type="dcterms:W3CDTF">2026-04-25T08:40:54Z</dcterms:modified>
</cp:coreProperties>
</file>